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02C39A"/>
                </a:solidFill>
              </a:rPr>
              <a:t>COMPUTER NETWORKS PROJECT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6858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Network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Prediction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65760" y="29260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BB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Long Short-Term Memory (LSTM) Neural Networks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480560"/>
            <a:ext cx="9144000" cy="65836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5262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BB5CC"/>
                </a:solidFill>
              </a:rPr>
              <a:t>Deep Learning  •  Time-Series Forecasting  •  Telecommunications  •  Quality of Service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3931920" cy="36576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960120"/>
            <a:ext cx="393192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875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3657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BB5CC"/>
                </a:solidFill>
              </a:rPr>
              <a:t>Networks suffer from two extremes: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❌  Under-provisioning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9BB5CC"/>
                </a:solidFill>
              </a:rPr>
              <a:t>Dropped packets, high latency, poor user experience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❌  Over-provisioning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9BB5CC"/>
                </a:solidFill>
              </a:rPr>
              <a:t>Wasted energy, excessive operational costs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200" i="1" dirty="0">
                <a:solidFill>
                  <a:srgbClr val="02C39A"/>
                </a:solidFill>
              </a:rPr>
              <a:t>Root cause: No ability to forecast future bandwidth demand from historical logs.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960120"/>
            <a:ext cx="40233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63440" y="960120"/>
            <a:ext cx="402336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9875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PROJECT OBJECTIVES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481328"/>
            <a:ext cx="384048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30368" y="1499616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</a:rPr>
              <a:t>Generate &amp; analyze a realistic temporal network traffic dataset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2258568"/>
            <a:ext cx="384048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2258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30368" y="2276856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</a:rPr>
              <a:t>Design a deep learning LSTM forecasting architecture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3035808"/>
            <a:ext cx="384048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30368" y="3054096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</a:rPr>
              <a:t>Evaluate model accuracy using regression metrics (MAE &amp; RMSE)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3813048"/>
            <a:ext cx="384048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3813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230368" y="3831336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</a:rPr>
              <a:t>Demonstrate AI's advantage over traditional statistical methods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B5CC"/>
                </a:solidFill>
              </a:rPr>
              <a:t>Synthetic time-series data mimicking real-world ISP network traffic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920240" cy="1005840"/>
          </a:xfrm>
          <a:prstGeom prst="rect">
            <a:avLst/>
          </a:prstGeom>
          <a:solidFill>
            <a:srgbClr val="0D2B55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515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</a:rPr>
              <a:t>2,500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5361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B5CC"/>
                </a:solidFill>
              </a:rPr>
              <a:t>Hourly Records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1005840"/>
            <a:ext cx="1920240" cy="1005840"/>
          </a:xfrm>
          <a:prstGeom prst="rect">
            <a:avLst/>
          </a:prstGeom>
          <a:solidFill>
            <a:srgbClr val="0D2B55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10515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</a:rPr>
              <a:t>~104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468880" y="15361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B5CC"/>
                </a:solidFill>
              </a:rPr>
              <a:t>Days of Data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005840"/>
            <a:ext cx="1920240" cy="1005840"/>
          </a:xfrm>
          <a:prstGeom prst="rect">
            <a:avLst/>
          </a:prstGeom>
          <a:solidFill>
            <a:srgbClr val="0D2B55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10515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</a:rPr>
              <a:t>1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72000" y="15361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B5CC"/>
                </a:solidFill>
              </a:rPr>
              <a:t>Feature: Traffic (MB)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675120" y="1005840"/>
            <a:ext cx="1920240" cy="1005840"/>
          </a:xfrm>
          <a:prstGeom prst="rect">
            <a:avLst/>
          </a:prstGeom>
          <a:solidFill>
            <a:srgbClr val="0D2B55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75120" y="10515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</a:rPr>
              <a:t>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675120" y="15361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B5CC"/>
                </a:solidFill>
              </a:rPr>
              <a:t>Signal Components</a:t>
            </a:r>
            <a:endParaRPr lang="en-US" sz="1000" dirty="0"/>
          </a:p>
        </p:txBody>
      </p:sp>
      <p:pic>
        <p:nvPicPr>
          <p:cNvPr id="16" name="Image 0" descr="/home/claude/traffic_dataset_visualiz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176272"/>
            <a:ext cx="8412480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914400"/>
            <a:ext cx="265176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78992"/>
            <a:ext cx="41148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789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09728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Data Generation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" y="1572768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Synthetic hourly traffic with upward trend, daily (24h) &amp; weekly (168h) seasonality + Gaussian noise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91440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914400"/>
            <a:ext cx="265176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1078992"/>
            <a:ext cx="41148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0789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886200" y="109728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Preprocessing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55848" y="1572768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MinMax Normalization [0,1] + Sequence structuring: X = [t₁…t₄₈] → y = t₄₉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26480" y="91440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914400"/>
            <a:ext cx="265176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1078992"/>
            <a:ext cx="41148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10789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766560" y="109728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Model Selection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36208" y="1572768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Two-layer LSTM with Dropout(0.2) regularization — handles both short &amp; long-term temporal dependencies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288036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2880360"/>
            <a:ext cx="265176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3044952"/>
            <a:ext cx="41148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044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05840" y="306324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Training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5488" y="3538728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80/20 train-test split · Adam optimizer · MSE loss · 15 Epochs · Batch size 32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46120" y="288036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46120" y="2880360"/>
            <a:ext cx="265176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83280" y="3044952"/>
            <a:ext cx="41148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0" y="3044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886200" y="306324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Testing &amp; Inference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355848" y="3538728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Predictions on unseen data with inverse MinMax transformation to evaluate real-world MB values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92608" y="1371600"/>
            <a:ext cx="1234440" cy="9601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92608" y="14173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</a:rPr>
              <a:t>INPUT LAYER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92608" y="17739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Rolling window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48-hour sequence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545336" y="1851660"/>
            <a:ext cx="193853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57477" y="1371600"/>
            <a:ext cx="123444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757477" y="14173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</a:rPr>
              <a:t>LSTM LAYER 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757477" y="17739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50 units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return_sequences=True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010205" y="1851660"/>
            <a:ext cx="193853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22346" y="1371600"/>
            <a:ext cx="1234440" cy="9601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22346" y="14173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</a:rPr>
              <a:t>DROPOUT 20%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222346" y="17739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Prevents overfitting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Randomly freezes neurons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475074" y="1851660"/>
            <a:ext cx="193853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87214" y="1371600"/>
            <a:ext cx="123444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87214" y="14173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</a:rPr>
              <a:t>LSTM LAYER 2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687214" y="17739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50 units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return_sequences=False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39942" y="1851660"/>
            <a:ext cx="193853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52083" y="1371600"/>
            <a:ext cx="1234440" cy="9601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52083" y="14173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</a:rPr>
              <a:t>DROPOUT 20%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152083" y="17739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Second regularization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pass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404811" y="1851660"/>
            <a:ext cx="193853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16952" y="1371600"/>
            <a:ext cx="1234440" cy="9601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616952" y="14173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</a:rPr>
              <a:t>DENSE OUTPUT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616952" y="17739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1 unit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Next-hour traffic (MB)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65760" y="2578608"/>
            <a:ext cx="2651760" cy="2286000"/>
          </a:xfrm>
          <a:prstGeom prst="rect">
            <a:avLst/>
          </a:prstGeom>
          <a:solidFill>
            <a:srgbClr val="0A1628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75488" y="2670048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Why LSTM?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5488" y="3035808"/>
            <a:ext cx="24323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BB5CC"/>
                </a:solidFill>
              </a:rPr>
              <a:t>Handles both short-term (last hour) and long-term (same time last week) traffic dependencies via forget/input/output gates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00400" y="2578608"/>
            <a:ext cx="2651760" cy="2286000"/>
          </a:xfrm>
          <a:prstGeom prst="rect">
            <a:avLst/>
          </a:prstGeom>
          <a:solidFill>
            <a:srgbClr val="0A1628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310128" y="2670048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Optimizer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310128" y="3035808"/>
            <a:ext cx="24323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BB5CC"/>
                </a:solidFill>
              </a:rPr>
              <a:t>Adam (Adaptive Moment Estimation) — combines AdaGrad + RMSProp for fast, stable convergence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035040" y="2578608"/>
            <a:ext cx="2651760" cy="2286000"/>
          </a:xfrm>
          <a:prstGeom prst="rect">
            <a:avLst/>
          </a:prstGeom>
          <a:solidFill>
            <a:srgbClr val="0A1628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144768" y="2670048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Loss Function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44768" y="3035808"/>
            <a:ext cx="24323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BB5CC"/>
                </a:solidFill>
              </a:rPr>
              <a:t>Mean Squared Error (MSE) — penalizes larger prediction errors more heavily, ideal for traffic spikes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Results</a:t>
            </a:r>
            <a:endParaRPr lang="en-US" sz="2800" dirty="0"/>
          </a:p>
        </p:txBody>
      </p:sp>
      <p:pic>
        <p:nvPicPr>
          <p:cNvPr id="3" name="Image 0" descr="/home/claude/training_loss_vs_epoch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822960"/>
            <a:ext cx="4754880" cy="3200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394960" y="841248"/>
            <a:ext cx="33832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394960" y="841248"/>
            <a:ext cx="64008" cy="9601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559552" y="93268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Rapid Convergence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559552" y="1225296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Training loss dropped sharply from 0.029 to ~0.005 within just 3 epochs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394960" y="1938528"/>
            <a:ext cx="33832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394960" y="1938528"/>
            <a:ext cx="64008" cy="9601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559552" y="202996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No Overfitting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559552" y="2322576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Validation loss closely tracks training loss — Dropout regularization working effectively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394960" y="3035808"/>
            <a:ext cx="33832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394960" y="3035808"/>
            <a:ext cx="64008" cy="9601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559552" y="312724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Stable at Epoch 7+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559552" y="3419856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Both curves plateau and remain flat, indicating the model has learned the underlying traffic pattern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394960" y="4160520"/>
            <a:ext cx="3383280" cy="73152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394960" y="41605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BB5CC"/>
                </a:solidFill>
              </a:rPr>
              <a:t>Config: 15 Epochs  •  Batch 32  •  80/20 Split  •  10% Validation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Results</a:t>
            </a:r>
            <a:endParaRPr lang="en-US" sz="2800" dirty="0"/>
          </a:p>
        </p:txBody>
      </p:sp>
      <p:pic>
        <p:nvPicPr>
          <p:cNvPr id="3" name="Image 0" descr="/home/claude/predicted_vs_actual_traff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8412480" cy="29260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65760" y="3886200"/>
            <a:ext cx="2651760" cy="1005840"/>
          </a:xfrm>
          <a:prstGeom prst="rect">
            <a:avLst/>
          </a:prstGeom>
          <a:solidFill>
            <a:srgbClr val="0D2B55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475488" y="39319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C7293"/>
                </a:solidFill>
              </a:rPr>
              <a:t>MAE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75488" y="420624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14.74 MB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75488" y="455371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B5CC"/>
                </a:solidFill>
              </a:rPr>
              <a:t>Avg hourly deviation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46120" y="3886200"/>
            <a:ext cx="2651760" cy="1005840"/>
          </a:xfrm>
          <a:prstGeom prst="rect">
            <a:avLst/>
          </a:prstGeom>
          <a:solidFill>
            <a:srgbClr val="0D2B55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355848" y="39319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65A82"/>
                </a:solidFill>
              </a:rPr>
              <a:t>RMSE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355848" y="420624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18.28 MB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3355848" y="455371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B5CC"/>
                </a:solidFill>
              </a:rPr>
              <a:t>Penalizes spike errors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126480" y="3886200"/>
            <a:ext cx="2651760" cy="1005840"/>
          </a:xfrm>
          <a:prstGeom prst="rect">
            <a:avLst/>
          </a:prstGeom>
          <a:solidFill>
            <a:srgbClr val="0D2B55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236208" y="39319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2C39A"/>
                </a:solidFill>
              </a:rPr>
              <a:t>Pattern Tracking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236208" y="420624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✔ Excellent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236208" y="455371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B5CC"/>
                </a:solidFill>
              </a:rPr>
              <a:t>Seasonality &amp; trend captured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AI Outperforms Traditional Methods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1828800"/>
                <a:gridCol w="25603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Criterion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ARIMA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SVR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LSTM (This Project)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A1628"/>
                          </a:solidFill>
                        </a:rPr>
                        <a:t>Non-linear Data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91C1C"/>
                          </a:solidFill>
                        </a:rPr>
                        <a:t>✗ Weak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A1628"/>
                          </a:solidFill>
                        </a:rPr>
                        <a:t>Partial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27A5F"/>
                          </a:solidFill>
                        </a:rPr>
                        <a:t>✔ Strong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A1628"/>
                          </a:solidFill>
                        </a:rPr>
                        <a:t>Auto Feature Extraction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91C1C"/>
                          </a:solidFill>
                        </a:rPr>
                        <a:t>✗ Manual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91C1C"/>
                          </a:solidFill>
                        </a:rPr>
                        <a:t>✗ Manual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27A5F"/>
                          </a:solidFill>
                        </a:rPr>
                        <a:t>✔ Automatic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A1628"/>
                          </a:solidFill>
                        </a:rPr>
                        <a:t>Long-Term Memory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91C1C"/>
                          </a:solidFill>
                        </a:rPr>
                        <a:t>✗ No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91C1C"/>
                          </a:solidFill>
                        </a:rPr>
                        <a:t>✗ No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27A5F"/>
                          </a:solidFill>
                        </a:rPr>
                        <a:t>✔ Cell State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A1628"/>
                          </a:solidFill>
                        </a:rPr>
                        <a:t>Scales with Big Data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91C1C"/>
                          </a:solidFill>
                        </a:rPr>
                        <a:t>✗ Slow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A1628"/>
                          </a:solidFill>
                        </a:rPr>
                        <a:t>Moderate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27A5F"/>
                          </a:solidFill>
                        </a:rPr>
                        <a:t>✔ GPU-Ready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A1628"/>
                          </a:solidFill>
                        </a:rPr>
                        <a:t>Seasonal Recognition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A1628"/>
                          </a:solidFill>
                        </a:rPr>
                        <a:t>Partial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A1628"/>
                          </a:solidFill>
                        </a:rPr>
                        <a:t>Partial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27A5F"/>
                          </a:solidFill>
                        </a:rPr>
                        <a:t>✔ Daily + Weekly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365760" y="4160520"/>
            <a:ext cx="841248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4187952"/>
            <a:ext cx="8229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B5CC"/>
                </a:solidFill>
              </a:rPr>
              <a:t>LSTM's gated cell structure retains both short-term spikes and long-term seasonal patterns — eliminating the need for manual feature engineering required by classical approaches.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2697480" cy="3931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914400"/>
            <a:ext cx="269748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97280"/>
            <a:ext cx="914400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</a:rPr>
              <a:t>NETWORK MANAGEMENT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Smart Networks (SDN/NFV)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212848"/>
            <a:ext cx="2423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BB5CC"/>
                </a:solidFill>
              </a:rPr>
              <a:t>Predictions enable dynamic instantiation of virtual network machines exactly where and when traffic surges, maximizing network elasticity and uptime.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914400"/>
            <a:ext cx="2697480" cy="3931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914400"/>
            <a:ext cx="269748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1097280"/>
            <a:ext cx="914400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097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</a:rPr>
              <a:t>SECURITY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383280" y="150876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Cybersecurity &amp; Anomaly Detection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0" y="2212848"/>
            <a:ext cx="2423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BB5CC"/>
                </a:solidFill>
              </a:rPr>
              <a:t>An AI-predicted 'normal' traffic baseline allows sudden deviations — such as DDoS attacks — to trigger security alerts before routers are overwhelmed.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914400"/>
            <a:ext cx="2697480" cy="3931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914400"/>
            <a:ext cx="269748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1097280"/>
            <a:ext cx="914400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1097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</a:rPr>
              <a:t>SUSTAINABILITY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6263640" y="150876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Energy Optimization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63640" y="2212848"/>
            <a:ext cx="2423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BB5CC"/>
                </a:solidFill>
              </a:rPr>
              <a:t>Base stations and server racks enter sleep mode during confidently predicted low-traffic periods, significantly reducing carbon footprint and operational costs.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8412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914400"/>
            <a:ext cx="64008" cy="1188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115568"/>
            <a:ext cx="502920" cy="50292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15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04241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Multivariate Forecasting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426464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Incorporate external signals — weather patterns, public event calendars, CPU server metrics — as additional input features to improve prediction accuracy.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8412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286000"/>
            <a:ext cx="64008" cy="1188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87168"/>
            <a:ext cx="502920" cy="50292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487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241401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Real-Time Streaming Integration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2798064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Connect to Apache Kafka to ingest live data from network switches and feed predictions directly to SDN controllers for autonomous traffic management.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8412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657600"/>
            <a:ext cx="64008" cy="1188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858768"/>
            <a:ext cx="502920" cy="50292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858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378561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Federated Learning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4169664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Train models locally on decentralized edge routers, preserving client privacy while still enabling network-wide intelligence — critical for compliance with data protection laws.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8412480" cy="749808"/>
          </a:xfrm>
          <a:prstGeom prst="rect">
            <a:avLst/>
          </a:prstGeom>
          <a:solidFill>
            <a:srgbClr val="0D2B55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54864" cy="7498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25296"/>
            <a:ext cx="8092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B5CC"/>
                </a:solidFill>
              </a:rPr>
              <a:t>LSTM successfully modeled complex daily and weekly network traffic seasonality without manual feature engineering.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103120"/>
            <a:ext cx="8412480" cy="749808"/>
          </a:xfrm>
          <a:prstGeom prst="rect">
            <a:avLst/>
          </a:prstGeom>
          <a:solidFill>
            <a:srgbClr val="0D2B55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103120"/>
            <a:ext cx="54864" cy="7498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139696"/>
            <a:ext cx="8092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B5CC"/>
                </a:solidFill>
              </a:rPr>
              <a:t>Model achieved MAE of 14.74 MB and RMSE of 18.28 MB on unseen data, demonstrating reliable real-world accuracy.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3017520"/>
            <a:ext cx="8412480" cy="749808"/>
          </a:xfrm>
          <a:prstGeom prst="rect">
            <a:avLst/>
          </a:prstGeom>
          <a:solidFill>
            <a:srgbClr val="0D2B55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3017520"/>
            <a:ext cx="54864" cy="7498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54096"/>
            <a:ext cx="8092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B5CC"/>
                </a:solidFill>
              </a:rPr>
              <a:t>Rapid convergence in training (3 epochs) with no overfitting confirms that the Dropout regularization strategy was effective.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931920"/>
            <a:ext cx="8412480" cy="749808"/>
          </a:xfrm>
          <a:prstGeom prst="rect">
            <a:avLst/>
          </a:prstGeom>
          <a:solidFill>
            <a:srgbClr val="0D2B55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931920"/>
            <a:ext cx="54864" cy="7498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968496"/>
            <a:ext cx="8092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B5CC"/>
                </a:solidFill>
              </a:rPr>
              <a:t>Deep Learning provides a scalable, automated, and intelligent approach to network management — far surpassing traditional ARIMA and SVR baselines.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663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AI-Based Network Traffic Prediction using LSTM  •  Deep Learning for Telecommunications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Network Traffic Prediction</dc:title>
  <dc:subject>PptxGenJS Presentation</dc:subject>
  <dc:creator>PptxGenJS</dc:creator>
  <cp:lastModifiedBy>PptxGenJS</cp:lastModifiedBy>
  <cp:revision>1</cp:revision>
  <dcterms:created xsi:type="dcterms:W3CDTF">2026-04-18T23:29:01Z</dcterms:created>
  <dcterms:modified xsi:type="dcterms:W3CDTF">2026-04-18T23:29:01Z</dcterms:modified>
</cp:coreProperties>
</file>